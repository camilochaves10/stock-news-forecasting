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2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3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6082a8c37e4fa9" /><Relationship Type="http://schemas.openxmlformats.org/officeDocument/2006/relationships/extended-properties" Target="/docProps/app.xml" Id="Rb780b26dc93940f3" /><Relationship Type="http://schemas.openxmlformats.org/officeDocument/2006/relationships/officeDocument" Target="/ppt/presentation.xml" Id="Rc30d89538d7741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369fc57f38432f"/>
  </p:sldMasterIdLst>
  <p:notesMasterIdLst>
    <p:notesMasterId xmlns:r="http://schemas.openxmlformats.org/officeDocument/2006/relationships" r:id="Rb83ce3ff86284280"/>
  </p:notesMasterIdLst>
  <p:sldIdLst>
    <p:sldId xmlns:r="http://schemas.openxmlformats.org/officeDocument/2006/relationships" id="256" r:id="R00b0de5438af45ac"/>
    <p:sldId xmlns:r="http://schemas.openxmlformats.org/officeDocument/2006/relationships" id="257" r:id="Rd0134a93669c4a8f"/>
    <p:sldId xmlns:r="http://schemas.openxmlformats.org/officeDocument/2006/relationships" id="258" r:id="R28e7931a05d0491c"/>
    <p:sldId xmlns:r="http://schemas.openxmlformats.org/officeDocument/2006/relationships" id="259" r:id="R1ceae06952fe4eb1"/>
    <p:sldId xmlns:r="http://schemas.openxmlformats.org/officeDocument/2006/relationships" id="260" r:id="R0767e957df6d429f"/>
    <p:sldId xmlns:r="http://schemas.openxmlformats.org/officeDocument/2006/relationships" id="261" r:id="Rce01bfaf314a4a6e"/>
    <p:sldId xmlns:r="http://schemas.openxmlformats.org/officeDocument/2006/relationships" id="262" r:id="Rf4b4ab1c27ac404a"/>
    <p:sldId xmlns:r="http://schemas.openxmlformats.org/officeDocument/2006/relationships" id="263" r:id="Rf0aa76cb14064ba1"/>
    <p:sldId xmlns:r="http://schemas.openxmlformats.org/officeDocument/2006/relationships" id="264" r:id="R38c121a5a28b4849"/>
    <p:sldId xmlns:r="http://schemas.openxmlformats.org/officeDocument/2006/relationships" id="265" r:id="R5e396e5aaeed400b"/>
    <p:sldId xmlns:r="http://schemas.openxmlformats.org/officeDocument/2006/relationships" id="266" r:id="Rd2c5634b38644267"/>
    <p:sldId xmlns:r="http://schemas.openxmlformats.org/officeDocument/2006/relationships" id="267" r:id="Re6e4f26934844484"/>
    <p:sldId xmlns:r="http://schemas.openxmlformats.org/officeDocument/2006/relationships" id="268" r:id="Rfe1e6177bced4a33"/>
    <p:sldId xmlns:r="http://schemas.openxmlformats.org/officeDocument/2006/relationships" id="269" r:id="R480b75422e4b4088"/>
    <p:sldId xmlns:r="http://schemas.openxmlformats.org/officeDocument/2006/relationships" id="270" r:id="Rf24c515b47da4a1c"/>
    <p:sldId xmlns:r="http://schemas.openxmlformats.org/officeDocument/2006/relationships" id="271" r:id="Rc7920f8e878f4a26"/>
    <p:sldId xmlns:r="http://schemas.openxmlformats.org/officeDocument/2006/relationships" id="272" r:id="Rc5def8f9149248bb"/>
    <p:sldId xmlns:r="http://schemas.openxmlformats.org/officeDocument/2006/relationships" id="273" r:id="Refc7a6870bf844a4"/>
    <p:sldId xmlns:r="http://schemas.openxmlformats.org/officeDocument/2006/relationships" id="274" r:id="R00ce96b25e714861"/>
    <p:sldId xmlns:r="http://schemas.openxmlformats.org/officeDocument/2006/relationships" id="275" r:id="R01fff0cf9a654ba2"/>
    <p:sldId xmlns:r="http://schemas.openxmlformats.org/officeDocument/2006/relationships" id="276" r:id="R54fb2dde5187470d"/>
    <p:sldId xmlns:r="http://schemas.openxmlformats.org/officeDocument/2006/relationships" id="277" r:id="R5cdc85c23cdb44ae"/>
    <p:sldId xmlns:r="http://schemas.openxmlformats.org/officeDocument/2006/relationships" id="278" r:id="R9b9f568b00e34319"/>
    <p:sldId xmlns:r="http://schemas.openxmlformats.org/officeDocument/2006/relationships" id="279" r:id="R1b5769187a584c91"/>
    <p:sldId xmlns:r="http://schemas.openxmlformats.org/officeDocument/2006/relationships" id="280" r:id="Re7fa7622453f4723"/>
    <p:sldId xmlns:r="http://schemas.openxmlformats.org/officeDocument/2006/relationships" id="281" r:id="Rd84ed483e2ae4b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c7fb5636474fe7" /><Relationship Type="http://schemas.openxmlformats.org/officeDocument/2006/relationships/slideMaster" Target="/ppt/slideMasters/slideMaster1.xml" Id="Rac369fc57f38432f" /><Relationship Type="http://schemas.openxmlformats.org/officeDocument/2006/relationships/notesMaster" Target="/ppt/notesMasters/notesMaster1.xml" Id="Rb83ce3ff86284280" /><Relationship Type="http://schemas.openxmlformats.org/officeDocument/2006/relationships/presProps" Target="/ppt/presProps.xml" Id="Rd3c57e638e0e4c6a" /><Relationship Type="http://schemas.openxmlformats.org/officeDocument/2006/relationships/tableStyles" Target="/ppt/tableStyles.xml" Id="R91e26923a7e040f0" /><Relationship Type="http://schemas.openxmlformats.org/officeDocument/2006/relationships/slide" Target="/ppt/slides/slide1.xml" Id="R00b0de5438af45ac" /><Relationship Type="http://schemas.openxmlformats.org/officeDocument/2006/relationships/slide" Target="/ppt/slides/slide2.xml" Id="Rd0134a93669c4a8f" /><Relationship Type="http://schemas.openxmlformats.org/officeDocument/2006/relationships/slide" Target="/ppt/slides/slide3.xml" Id="R28e7931a05d0491c" /><Relationship Type="http://schemas.openxmlformats.org/officeDocument/2006/relationships/slide" Target="/ppt/slides/slide4.xml" Id="R1ceae06952fe4eb1" /><Relationship Type="http://schemas.openxmlformats.org/officeDocument/2006/relationships/slide" Target="/ppt/slides/slide5.xml" Id="R0767e957df6d429f" /><Relationship Type="http://schemas.openxmlformats.org/officeDocument/2006/relationships/slide" Target="/ppt/slides/slide6.xml" Id="Rce01bfaf314a4a6e" /><Relationship Type="http://schemas.openxmlformats.org/officeDocument/2006/relationships/slide" Target="/ppt/slides/slide7.xml" Id="Rf4b4ab1c27ac404a" /><Relationship Type="http://schemas.openxmlformats.org/officeDocument/2006/relationships/slide" Target="/ppt/slides/slide8.xml" Id="Rf0aa76cb14064ba1" /><Relationship Type="http://schemas.openxmlformats.org/officeDocument/2006/relationships/slide" Target="/ppt/slides/slide9.xml" Id="R38c121a5a28b4849" /><Relationship Type="http://schemas.openxmlformats.org/officeDocument/2006/relationships/slide" Target="/ppt/slides/slide10.xml" Id="R5e396e5aaeed400b" /><Relationship Type="http://schemas.openxmlformats.org/officeDocument/2006/relationships/slide" Target="/ppt/slides/slide11.xml" Id="Rd2c5634b38644267" /><Relationship Type="http://schemas.openxmlformats.org/officeDocument/2006/relationships/slide" Target="/ppt/slides/slide12.xml" Id="Re6e4f26934844484" /><Relationship Type="http://schemas.openxmlformats.org/officeDocument/2006/relationships/slide" Target="/ppt/slides/slide13.xml" Id="Rfe1e6177bced4a33" /><Relationship Type="http://schemas.openxmlformats.org/officeDocument/2006/relationships/slide" Target="/ppt/slides/slide14.xml" Id="R480b75422e4b4088" /><Relationship Type="http://schemas.openxmlformats.org/officeDocument/2006/relationships/slide" Target="/ppt/slides/slide15.xml" Id="Rf24c515b47da4a1c" /><Relationship Type="http://schemas.openxmlformats.org/officeDocument/2006/relationships/slide" Target="/ppt/slides/slide16.xml" Id="Rc7920f8e878f4a26" /><Relationship Type="http://schemas.openxmlformats.org/officeDocument/2006/relationships/slide" Target="/ppt/slides/slide17.xml" Id="Rc5def8f9149248bb" /><Relationship Type="http://schemas.openxmlformats.org/officeDocument/2006/relationships/slide" Target="/ppt/slides/slide18.xml" Id="Refc7a6870bf844a4" /><Relationship Type="http://schemas.openxmlformats.org/officeDocument/2006/relationships/slide" Target="/ppt/slides/slide19.xml" Id="R00ce96b25e714861" /><Relationship Type="http://schemas.openxmlformats.org/officeDocument/2006/relationships/slide" Target="/ppt/slides/slide20.xml" Id="R01fff0cf9a654ba2" /><Relationship Type="http://schemas.openxmlformats.org/officeDocument/2006/relationships/slide" Target="/ppt/slides/slide21.xml" Id="R54fb2dde5187470d" /><Relationship Type="http://schemas.openxmlformats.org/officeDocument/2006/relationships/slide" Target="/ppt/slides/slide22.xml" Id="R5cdc85c23cdb44ae" /><Relationship Type="http://schemas.openxmlformats.org/officeDocument/2006/relationships/slide" Target="/ppt/slides/slide23.xml" Id="R9b9f568b00e34319" /><Relationship Type="http://schemas.openxmlformats.org/officeDocument/2006/relationships/slide" Target="/ppt/slides/slide24.xml" Id="R1b5769187a584c91" /><Relationship Type="http://schemas.openxmlformats.org/officeDocument/2006/relationships/slide" Target="/ppt/slides/slide25.xml" Id="Re7fa7622453f4723" /><Relationship Type="http://schemas.openxmlformats.org/officeDocument/2006/relationships/slide" Target="/ppt/slides/slide26.xml" Id="Rd84ed483e2ae4b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082a0a5deb4c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45b051e977404a" /><Relationship Type="http://schemas.openxmlformats.org/officeDocument/2006/relationships/notesMaster" Target="/ppt/notesMasters/notesMaster1.xml" Id="Ra65e6d60a6044f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ffa0d2b5cc4f4d" /><Relationship Type="http://schemas.openxmlformats.org/officeDocument/2006/relationships/notesMaster" Target="/ppt/notesMasters/notesMaster1.xml" Id="Rb9d8e4157b0a42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12f261c8a64e57" /><Relationship Type="http://schemas.openxmlformats.org/officeDocument/2006/relationships/notesMaster" Target="/ppt/notesMasters/notesMaster1.xml" Id="R6401bba5933d4d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5423cf2fb64fe5" /><Relationship Type="http://schemas.openxmlformats.org/officeDocument/2006/relationships/notesMaster" Target="/ppt/notesMasters/notesMaster1.xml" Id="R1d5cebb234ad41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a643f420b544dd" /><Relationship Type="http://schemas.openxmlformats.org/officeDocument/2006/relationships/notesMaster" Target="/ppt/notesMasters/notesMaster1.xml" Id="R231d24bfc16e4b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afa5ed252d46a3" /><Relationship Type="http://schemas.openxmlformats.org/officeDocument/2006/relationships/notesMaster" Target="/ppt/notesMasters/notesMaster1.xml" Id="Ra1bbc667a6a04b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eb62879eb24007" /><Relationship Type="http://schemas.openxmlformats.org/officeDocument/2006/relationships/notesMaster" Target="/ppt/notesMasters/notesMaster1.xml" Id="R504af9aa882941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dd2da72c834872" /><Relationship Type="http://schemas.openxmlformats.org/officeDocument/2006/relationships/notesMaster" Target="/ppt/notesMasters/notesMaster1.xml" Id="Rc2c97f5120f84b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36daedcc7647b8" /><Relationship Type="http://schemas.openxmlformats.org/officeDocument/2006/relationships/notesMaster" Target="/ppt/notesMasters/notesMaster1.xml" Id="R7dd0d716bd184d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4c1b2e40ba4c15" /><Relationship Type="http://schemas.openxmlformats.org/officeDocument/2006/relationships/notesMaster" Target="/ppt/notesMasters/notesMaster1.xml" Id="Rdbe516bbb8cb4d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3fbe44a04b47dd" /><Relationship Type="http://schemas.openxmlformats.org/officeDocument/2006/relationships/notesMaster" Target="/ppt/notesMasters/notesMaster1.xml" Id="R8f2b16d85c5d48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e59dcc1e9b4513" /><Relationship Type="http://schemas.openxmlformats.org/officeDocument/2006/relationships/notesMaster" Target="/ppt/notesMasters/notesMaster1.xml" Id="R76d132a06b7b4f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f183c2f35c48fa" /><Relationship Type="http://schemas.openxmlformats.org/officeDocument/2006/relationships/notesMaster" Target="/ppt/notesMasters/notesMaster1.xml" Id="Rbf4c0f890e9c4d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669e678a304776" /><Relationship Type="http://schemas.openxmlformats.org/officeDocument/2006/relationships/notesMaster" Target="/ppt/notesMasters/notesMaster1.xml" Id="Rd82c01af0ecb42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bc90adfd174656" /><Relationship Type="http://schemas.openxmlformats.org/officeDocument/2006/relationships/notesMaster" Target="/ppt/notesMasters/notesMaster1.xml" Id="Rf90af28daa9a49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cfc98d3ed54dcc" /><Relationship Type="http://schemas.openxmlformats.org/officeDocument/2006/relationships/notesMaster" Target="/ppt/notesMasters/notesMaster1.xml" Id="R610cfb9aa31e42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f6f770cafa4597" /><Relationship Type="http://schemas.openxmlformats.org/officeDocument/2006/relationships/notesMaster" Target="/ppt/notesMasters/notesMaster1.xml" Id="R28fd5dd0928743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52ff7e96e84d2b" /><Relationship Type="http://schemas.openxmlformats.org/officeDocument/2006/relationships/notesMaster" Target="/ppt/notesMasters/notesMaster1.xml" Id="Rde1d1efa7ed942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f4fb25975a4e72" /><Relationship Type="http://schemas.openxmlformats.org/officeDocument/2006/relationships/notesMaster" Target="/ppt/notesMasters/notesMaster1.xml" Id="Reed8def0cb4440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9b59ea5e6a4577" /><Relationship Type="http://schemas.openxmlformats.org/officeDocument/2006/relationships/notesMaster" Target="/ppt/notesMasters/notesMaster1.xml" Id="R4aa89a26481b41f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30b236c8fe64435" /><Relationship Type="http://schemas.openxmlformats.org/officeDocument/2006/relationships/notesMaster" Target="/ppt/notesMasters/notesMaster1.xml" Id="R4be37ecaaf494f3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e52eb0de3b4a82" /><Relationship Type="http://schemas.openxmlformats.org/officeDocument/2006/relationships/notesMaster" Target="/ppt/notesMasters/notesMaster1.xml" Id="R0e568de9d7a4456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29b4a715a5d4011" /><Relationship Type="http://schemas.openxmlformats.org/officeDocument/2006/relationships/notesMaster" Target="/ppt/notesMasters/notesMaster1.xml" Id="R4c4395fc700448c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d2ecd9c93344dcb" /><Relationship Type="http://schemas.openxmlformats.org/officeDocument/2006/relationships/notesMaster" Target="/ppt/notesMasters/notesMaster1.xml" Id="R04447370b6c74e5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ef86f249c72434a" /><Relationship Type="http://schemas.openxmlformats.org/officeDocument/2006/relationships/notesMaster" Target="/ppt/notesMasters/notesMaster1.xml" Id="Re8972112948544d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597b070c3724d40" /><Relationship Type="http://schemas.openxmlformats.org/officeDocument/2006/relationships/notesMaster" Target="/ppt/notesMasters/notesMaster1.xml" Id="R1ab7b6d616c644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research question: does market news improve next-trading-day forecasting beyond historical price and volume information?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the goal was not simply to fit a complex model. The goal was to construct a credible out-of-sample experiment in a noisy domain.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Preview the conclusion: news showed limited validation signal, but the advantage did not persist on the final test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final answer so the audience knows what the rest of the evidence is resolving.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News-only XGBoost was the best validation candidate, but the ticker-specific historical mean produced the lowest final test errors.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a useful negative result: the experiment prevented transient validation signal from being mistaken for a stable forecasting advantage.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core difficulty before presenting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Return prediction combines weak signal, changing regimes, and difficult timestamp semantics.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Therefore, chronological validation and meaningful baselines are central parts of the solution—not implementation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data covers 241 sessions from November 2023 through October 2024.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tickers share the same trading-date panel, which simplifies chronological splitting and market-context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news corpus is much less balanced than the price panel, so missing-news days must be retained rather than dropped.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price panel passed all structural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news, duplicate detection requires judgment: identical rows are safe to remove, but repeated timestamps can represent multiple distinct stories.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retained plausible coverage rather than applying aggressive deduplication that could discard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Normalized prices make nominally different share prices comparable.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NVIDIA produced the strongest cumulative performance, while Tesla followed a different trajectory.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motivates modeling returns rather than price levels and adding market-relative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Figure: outputs/figures/normalized_price_performance.png in the candidate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distributions are centered near zero but differ substantially in spread and tail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Tesla and NVIDIA show the widest distributions; Microsoft shows one of the narrowest.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model must handle extreme but economically plausible observations rather than deleting them as outliers.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Figure: outputs/figures/daily_return_violin_plot.png in the candidate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Daily returns are positively correlated across all seven securities.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strongest relationships occur among large technology peers, while Tesla has weaker links to the rest of the universe.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supports equal-weight market return and relative-return features, while retaining ticker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Figure: outputs/figures/daily_return_correlation.png in the candidate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largest absolute movements concentrate in the most volatile tickers.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observations are plausible market events, so I retained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interpret poor performance on these days as a forecasting limitation rather than a reason to clean them away.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Figure: outputs/figures/largest_daily_returns.png in the candidate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AMZN has the most articles, while GOOGL and META have far fewer.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Weekly volume is bursty and varies across tickers.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Article count may therefore measure provider attention as much as underlying economic importance.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Figures: outputs/figures/news_articles_by_ticker.png and weekly_news_volume.png in the candidate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FinBERT is used as a pretrained feature extractor, not as the forecasting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Article-level probabilities are aggregated into daily tone, dispersion, and composition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Because the timestamp timezone is undocumented, I use a conservative next-session alignment to avoid same-day leakage.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forecast is made after the close of day t using completed information through that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statistical target is the next-day return. Price metrics are reconstructed for interpretability.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Return errors are more comparable across tickers than dollar price errors.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splits are chronological and all securities from the same date remain in the same partition.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is used for feature and model decisions; test is reserved for the final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design exposes regime dependence that a random split could conceal.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price feature set spans momentum, volatility, trend, volume, and cross-sectional market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News features separate intensity from tone and composition.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rolling calculations are grouped by ticker and use only information available through day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ladder starts with historical-drift baselines, then adds linear, tree-based, classical time-series, and ensemble methods.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Ticker mean is a surprisingly strong benchmark because each stock has a different historical drift.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central selection criterion is unseen-period performance, not model complexity.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News-only XGBoost has the best validation return MAE at 1.925%.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improvement over historical mean is real in this period but small.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treat this model as the validation challenger and require confirmation on the untouched test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ticker-specific historical mean delivers the lowest final test return MAE at 1.261%.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News-only XGBoost reaches 1.275%, so its validation advantage does not generalize.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ranking reversal is direct evidence of regime 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Figure embedded in notebooks/03_executive_report.ipynb in the candidate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Ticker historical mean is best on both price MAE and return MAE.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Price-only and combined XGBoost are nearly identical, which indicates the news features add no stable incremental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Direction accuracy requires separate interpretation because several models share the same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Five models report 58.01% directional accuracy, but that is also the positive-return base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Their predictions are overwhelmingly positive, so the metric reflects class imbalance rather than genuine classification skill.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why baselines change the interpretation of headline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News-only XGBoost improves return MAE only for Google.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the other six stocks, at least one historical-mean baseline is more accurate.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Tesla and NVIDIA remain the hardest names, consistent with their wider return distributions.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Permutation importance ranks median and mean sentiment as the strongest news variables.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Volume-related features contribute close to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Absolute importance values are small and uncertainty bars are wide, so the result is descriptive rather than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Figure: outputs/figures/news_permutation_importance.png in the candidate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days with news are substantially harder: historical-mean return MAE rises from 0.940% to 1.334%.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an association. Providers publish more around earnings, controversy, and unusual activity.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News-only XGBoost does not improve active-news days; its MAE is slightly higher at 1.344%.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production recommendation is a champion–challenger setup.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Ticker historical mean remains the champion because it generalizes best and is transparent.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News-only XGBoost remains a challenger because it showed validation signal and helped Google, but it requires broader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highest-value next steps are broader data and stronger temporal validation, not immediately larger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would add market and event context, improve news alignment and relevance, and evaluate longer forecast horizons.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production, I would add calibration, prediction intervals, monitoring, and an economic backtest after costs.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by returning to the research question: within this sample, news did not add stable incremental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only if asked about limitations.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conclusion is deliberately bounded to this dataset, horizon, universe, and feature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strongest limitation is the short history across a single dominant market regime.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if asked about reproducibility or project organization.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first notebook owns the audit and EDA, the second owns modeling, and the third synthesizes saved artifacts without retraining.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Reusable functions are separated into src modules, and outputs are persisted for reporting.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 assessment notebooks and saved artifacts: https://github.com/camilochaves10/stock-news-forecasting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32dcdee8e46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00281e18494143" /><Relationship Type="http://schemas.openxmlformats.org/officeDocument/2006/relationships/slideLayout" Target="/ppt/slideLayouts/slideLayout1.xml" Id="R52f6a5dbf5fb4d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f6a5dbf5fb4d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b358e99484afa" /><Relationship Type="http://schemas.openxmlformats.org/officeDocument/2006/relationships/notesSlide" Target="/ppt/notesSlides/notesSlide1.xml" Id="Ra5f07b983bf641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d5e3cf78a4b12" /><Relationship Type="http://schemas.openxmlformats.org/officeDocument/2006/relationships/notesSlide" Target="/ppt/notesSlides/notesSlide2.xml" Id="R95c3a0b2be3a4b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5900457a34ce2" /><Relationship Type="http://schemas.openxmlformats.org/officeDocument/2006/relationships/notesSlide" Target="/ppt/notesSlides/notesSlide3.xml" Id="Re272bebdfd7a4e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68b9472d646f9" /><Relationship Type="http://schemas.openxmlformats.org/officeDocument/2006/relationships/notesSlide" Target="/ppt/notesSlides/notesSlide4.xml" Id="R502dda3f8d7741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046157dcc440c" /><Relationship Type="http://schemas.openxmlformats.org/officeDocument/2006/relationships/notesSlide" Target="/ppt/notesSlides/notesSlide5.xml" Id="R7285c1feb9ae41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e9f53123d4427" /><Relationship Type="http://schemas.openxmlformats.org/officeDocument/2006/relationships/image" Target="/ppt/media/image.png" Id="R36b5f94efec44bb1" /><Relationship Type="http://schemas.openxmlformats.org/officeDocument/2006/relationships/notesSlide" Target="/ppt/notesSlides/notesSlide6.xml" Id="Rbce8fb56c9484d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0d26a9a98410e" /><Relationship Type="http://schemas.openxmlformats.org/officeDocument/2006/relationships/image" Target="/ppt/media/image2.png" Id="R37346dc81fc94830" /><Relationship Type="http://schemas.openxmlformats.org/officeDocument/2006/relationships/notesSlide" Target="/ppt/notesSlides/notesSlide7.xml" Id="Ra45d090506bb45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95a044d2f4f94" /><Relationship Type="http://schemas.openxmlformats.org/officeDocument/2006/relationships/image" Target="/ppt/media/image3.png" Id="R49fd3269fd3b418c" /><Relationship Type="http://schemas.openxmlformats.org/officeDocument/2006/relationships/notesSlide" Target="/ppt/notesSlides/notesSlide8.xml" Id="Rbc140a5b13df41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3670a1cc24a08" /><Relationship Type="http://schemas.openxmlformats.org/officeDocument/2006/relationships/image" Target="/ppt/media/image4.png" Id="Rd495532257e84ca5" /><Relationship Type="http://schemas.openxmlformats.org/officeDocument/2006/relationships/notesSlide" Target="/ppt/notesSlides/notesSlide9.xml" Id="R3feb1655860e4d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1d7d84b5340fb" /><Relationship Type="http://schemas.openxmlformats.org/officeDocument/2006/relationships/image" Target="/ppt/media/image5.png" Id="Ra806d88c0fc543cf" /><Relationship Type="http://schemas.openxmlformats.org/officeDocument/2006/relationships/image" Target="/ppt/media/image6.png" Id="R78a1ae06f00b456d" /><Relationship Type="http://schemas.openxmlformats.org/officeDocument/2006/relationships/notesSlide" Target="/ppt/notesSlides/notesSlide10.xml" Id="Rd69f5f53485a44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1bf97069c490e" /><Relationship Type="http://schemas.openxmlformats.org/officeDocument/2006/relationships/notesSlide" Target="/ppt/notesSlides/notesSlide11.xml" Id="R29c8f54321ed44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5261fc9f4456b" /><Relationship Type="http://schemas.openxmlformats.org/officeDocument/2006/relationships/notesSlide" Target="/ppt/notesSlides/notesSlide12.xml" Id="Rbbf56956536547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1026bafc4409e" /><Relationship Type="http://schemas.openxmlformats.org/officeDocument/2006/relationships/notesSlide" Target="/ppt/notesSlides/notesSlide13.xml" Id="Rb4e72f23c62245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7c2adf3ae4c7e" /><Relationship Type="http://schemas.openxmlformats.org/officeDocument/2006/relationships/notesSlide" Target="/ppt/notesSlides/notesSlide14.xml" Id="Rc19cdfc2aee442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6cdb273154d90" /><Relationship Type="http://schemas.openxmlformats.org/officeDocument/2006/relationships/notesSlide" Target="/ppt/notesSlides/notesSlide15.xml" Id="R5f50efa06bc145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503c030804038" /><Relationship Type="http://schemas.openxmlformats.org/officeDocument/2006/relationships/chart" Target="/ppt/slides/charts/chart1.xml" Id="Rb1c0584371724257" /><Relationship Type="http://schemas.openxmlformats.org/officeDocument/2006/relationships/notesSlide" Target="/ppt/notesSlides/notesSlide16.xml" Id="R0379820c10ac4d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3ca96f8cd4933" /><Relationship Type="http://schemas.openxmlformats.org/officeDocument/2006/relationships/image" Target="/ppt/media/image7.png" Id="R223b470585304bae" /><Relationship Type="http://schemas.openxmlformats.org/officeDocument/2006/relationships/notesSlide" Target="/ppt/notesSlides/notesSlide17.xml" Id="Rc71c1b8c6db342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34bb320fa4ec1" /><Relationship Type="http://schemas.openxmlformats.org/officeDocument/2006/relationships/notesSlide" Target="/ppt/notesSlides/notesSlide18.xml" Id="R4b548935ea1d43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d1e8d68874be2" /><Relationship Type="http://schemas.openxmlformats.org/officeDocument/2006/relationships/chart" Target="/ppt/slides/charts/chart2.xml" Id="R95b89249b96b4330" /><Relationship Type="http://schemas.openxmlformats.org/officeDocument/2006/relationships/notesSlide" Target="/ppt/notesSlides/notesSlide19.xml" Id="R7e1eb7e55d7f4a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5f27c763a4b9e" /><Relationship Type="http://schemas.openxmlformats.org/officeDocument/2006/relationships/chart" Target="/ppt/slides/charts/chart3.xml" Id="R913191cbd7364291" /><Relationship Type="http://schemas.openxmlformats.org/officeDocument/2006/relationships/notesSlide" Target="/ppt/notesSlides/notesSlide20.xml" Id="Rd636d616a3284e1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0ab08f9ec4215" /><Relationship Type="http://schemas.openxmlformats.org/officeDocument/2006/relationships/image" Target="/ppt/media/image8.png" Id="Ra75f02bb0e0e49b0" /><Relationship Type="http://schemas.openxmlformats.org/officeDocument/2006/relationships/notesSlide" Target="/ppt/notesSlides/notesSlide21.xml" Id="R882e595b53b34d9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3b8a7e2ed4f10" /><Relationship Type="http://schemas.openxmlformats.org/officeDocument/2006/relationships/notesSlide" Target="/ppt/notesSlides/notesSlide22.xml" Id="R765f7124e2dd41f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cb6f695f44b65" /><Relationship Type="http://schemas.openxmlformats.org/officeDocument/2006/relationships/notesSlide" Target="/ppt/notesSlides/notesSlide23.xml" Id="R5377fe9ad948490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2b79e91e74cfc" /><Relationship Type="http://schemas.openxmlformats.org/officeDocument/2006/relationships/notesSlide" Target="/ppt/notesSlides/notesSlide24.xml" Id="R875180f93754419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10de744eb4f74" /><Relationship Type="http://schemas.openxmlformats.org/officeDocument/2006/relationships/notesSlide" Target="/ppt/notesSlides/notesSlide25.xml" Id="R6a0d678fa06943f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60bce69394bd3" /><Relationship Type="http://schemas.openxmlformats.org/officeDocument/2006/relationships/notesSlide" Target="/ppt/notesSlides/notesSlide26.xml" Id="R88a1e9e095b04207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return MAE (%) · lower is better</a:t>
            </a:r>
          </a:p>
        </c:rich>
      </c:tx>
      <c:overlay val="0"/>
    </c:title>
    <c:plotArea>
      <c:barChart>
        <c:barDir val="col"/>
        <c:varyColors val="0"/>
        <c:ser>
          <c:idx val="0"/>
          <c:order val="0"/>
          <c:tx>
            <c:v>Return MAE (%)</c:v>
          </c:tx>
          <c:spPr>
            <a:solidFill xmlns:a="http://schemas.openxmlformats.org/drawingml/2006/main">
              <a:srgbClr val="1877F2"/>
            </a:solidFill>
          </c:spPr>
          <c:cat>
            <c:strLit>
              <c:ptCount val="7"/>
              <c:pt idx="0">
                <c:v>News XGB</c:v>
              </c:pt>
              <c:pt idx="1">
                <c:v>Ensemble</c:v>
              </c:pt>
              <c:pt idx="2">
                <c:v>Global mean</c:v>
              </c:pt>
              <c:pt idx="3">
                <c:v>Price XGB</c:v>
              </c:pt>
              <c:pt idx="4">
                <c:v>Ticker mean</c:v>
              </c:pt>
              <c:pt idx="5">
                <c:v>ARIMA</c:v>
              </c:pt>
              <c:pt idx="6">
                <c:v>Holt</c:v>
              </c:pt>
            </c:strLit>
          </c:cat>
          <c:val>
            <c:numLit>
              <c:formatCode>General</c:formatCode>
              <c:ptCount val="7"/>
              <c:pt idx="0">
                <c:v>1.925</c:v>
              </c:pt>
              <c:pt idx="1">
                <c:v>1.931</c:v>
              </c:pt>
              <c:pt idx="2">
                <c:v>1.937</c:v>
              </c:pt>
              <c:pt idx="3">
                <c:v>1.937</c:v>
              </c:pt>
              <c:pt idx="4">
                <c:v>1.938</c:v>
              </c:pt>
              <c:pt idx="5">
                <c:v>1.94</c:v>
              </c:pt>
              <c:pt idx="6">
                <c:v>1.965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98"/>
          <c:min val="1.9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02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directional accuracy (%)</a:t>
            </a:r>
          </a:p>
        </c:rich>
      </c:tx>
      <c:overlay val="0"/>
    </c:title>
    <c:plotArea>
      <c:barChart>
        <c:barDir val="col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1877F2"/>
            </a:solidFill>
          </c:spPr>
          <c:cat>
            <c:strLit>
              <c:ptCount val="6"/>
              <c:pt idx="0">
                <c:v>Majority
baseline</c:v>
              </c:pt>
              <c:pt idx="1">
                <c:v>Ticker
mean</c:v>
              </c:pt>
              <c:pt idx="2">
                <c:v>Price
XGB</c:v>
              </c:pt>
              <c:pt idx="3">
                <c:v>News
XGB</c:v>
              </c:pt>
              <c:pt idx="4">
                <c:v>Combined
XGB</c:v>
              </c:pt>
              <c:pt idx="5">
                <c:v>ARIMA</c:v>
              </c:pt>
            </c:strLit>
          </c:cat>
          <c:val>
            <c:numLit>
              <c:formatCode>General</c:formatCode>
              <c:ptCount val="6"/>
              <c:pt idx="0">
                <c:v>58.01</c:v>
              </c:pt>
              <c:pt idx="1">
                <c:v>58.01</c:v>
              </c:pt>
              <c:pt idx="2">
                <c:v>58.01</c:v>
              </c:pt>
              <c:pt idx="3">
                <c:v>58.01</c:v>
              </c:pt>
              <c:pt idx="4">
                <c:v>58.01</c:v>
              </c:pt>
              <c:pt idx="5">
                <c:v>55.41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62"/>
          <c:min val="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return MAE by ticker (%) · lower is better</a:t>
            </a:r>
          </a:p>
        </c:rich>
      </c:tx>
      <c:overlay val="0"/>
    </c:title>
    <c:plotArea>
      <c:barChart>
        <c:barDir val="col"/>
        <c:varyColors val="0"/>
        <c:ser>
          <c:idx val="0"/>
          <c:order val="0"/>
          <c:tx>
            <c:v>Ticker mean</c:v>
          </c:tx>
          <c:spPr>
            <a:solidFill xmlns:a="http://schemas.openxmlformats.org/drawingml/2006/main">
              <a:srgbClr val="1877F2"/>
            </a:solidFill>
          </c:spPr>
          <c:cat>
            <c:strLit>
              <c:ptCount val="7"/>
              <c:pt idx="0">
                <c:v>AAPL</c:v>
              </c:pt>
              <c:pt idx="1">
                <c:v>AMZN</c:v>
              </c:pt>
              <c:pt idx="2">
                <c:v>GOOGL</c:v>
              </c:pt>
              <c:pt idx="3">
                <c:v>META</c:v>
              </c:pt>
              <c:pt idx="4">
                <c:v>MSFT</c:v>
              </c:pt>
              <c:pt idx="5">
                <c:v>NVDA</c:v>
              </c:pt>
              <c:pt idx="6">
                <c:v>TSLA</c:v>
              </c:pt>
            </c:strLit>
          </c:cat>
          <c:val>
            <c:numLit>
              <c:formatCode>General</c:formatCode>
              <c:ptCount val="7"/>
              <c:pt idx="0">
                <c:v>1.009</c:v>
              </c:pt>
              <c:pt idx="1">
                <c:v>0.944</c:v>
              </c:pt>
              <c:pt idx="2">
                <c:v>0.797</c:v>
              </c:pt>
              <c:pt idx="3">
                <c:v>0.979</c:v>
              </c:pt>
              <c:pt idx="4">
                <c:v>0.708</c:v>
              </c:pt>
              <c:pt idx="5">
                <c:v>1.783</c:v>
              </c:pt>
              <c:pt idx="6">
                <c:v>2.607</c:v>
              </c:pt>
            </c:numLit>
          </c:val>
        </c:ser>
        <c:ser>
          <c:idx val="1"/>
          <c:order val="1"/>
          <c:tx>
            <c:v>News XGB</c:v>
          </c:tx>
          <c:spPr>
            <a:solidFill xmlns:a="http://schemas.openxmlformats.org/drawingml/2006/main">
              <a:srgbClr val="F79009"/>
            </a:solidFill>
          </c:spPr>
          <c:cat>
            <c:strLit>
              <c:ptCount val="7"/>
              <c:pt idx="0">
                <c:v>AAPL</c:v>
              </c:pt>
              <c:pt idx="1">
                <c:v>AMZN</c:v>
              </c:pt>
              <c:pt idx="2">
                <c:v>GOOGL</c:v>
              </c:pt>
              <c:pt idx="3">
                <c:v>META</c:v>
              </c:pt>
              <c:pt idx="4">
                <c:v>MSFT</c:v>
              </c:pt>
              <c:pt idx="5">
                <c:v>NVDA</c:v>
              </c:pt>
              <c:pt idx="6">
                <c:v>TSLA</c:v>
              </c:pt>
            </c:strLit>
          </c:cat>
          <c:val>
            <c:numLit>
              <c:formatCode>General</c:formatCode>
              <c:ptCount val="7"/>
              <c:pt idx="0">
                <c:v>1.015</c:v>
              </c:pt>
              <c:pt idx="1">
                <c:v>0.948</c:v>
              </c:pt>
              <c:pt idx="2">
                <c:v>0.773</c:v>
              </c:pt>
              <c:pt idx="3">
                <c:v>0.998</c:v>
              </c:pt>
              <c:pt idx="4">
                <c:v>0.731</c:v>
              </c:pt>
              <c:pt idx="5">
                <c:v>1.816</c:v>
              </c:pt>
              <c:pt idx="6">
                <c:v>2.642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5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28089-3A7B-45B5-939E-64F0BE9C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61203-93F9-4650-BCAA-82EC49B6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77F2"/>
                </a:solidFill>
              </a:defRPr>
            </a:pPr>
            <a:r>
              <a:rPr sz="1125" b="1">
                <a:solidFill>
                  <a:srgbClr val="1877F2"/>
                </a:solidFill>
              </a:rPr>
              <a:t>AI DATA SCIENTIST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657CA-01F8-407E-B6FB-300D4A9E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8"/>
                </a:solidFill>
              </a:defRPr>
            </a:pPr>
            <a:r>
              <a:rPr sz="3900" b="1">
                <a:solidFill>
                  <a:srgbClr val="101828"/>
                </a:solidFill>
              </a:rPr>
              <a:t>Can financial news improve</a:t>
            </a:r>
          </a:p>
          <a:p xmlns:a="http://schemas.openxmlformats.org/drawingml/2006/main">
            <a:pPr algn="l">
              <a:defRPr sz="3900" b="1">
                <a:solidFill>
                  <a:srgbClr val="101828"/>
                </a:solidFill>
              </a:defRPr>
            </a:pPr>
            <a:r>
              <a:rPr sz="3900" b="1">
                <a:solidFill>
                  <a:srgbClr val="101828"/>
                </a:solidFill>
              </a:rPr>
              <a:t>next-day stock forecasts?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A40E6-5790-45B2-AC99-402A829C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A leakage-aware evaluation of historical prices, FinBERT sentiment, and time-series 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E1600-39C9-4DB1-BF22-86822281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838200"/>
            <a:ext cx="3143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80C34-E8C6-4B6E-B456-3667644B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52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82D34-52E9-4C3D-9B83-CDB723E1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288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D5DD"/>
                </a:solidFill>
              </a:defRPr>
            </a:pPr>
            <a:r>
              <a:rPr sz="1350" b="0">
                <a:solidFill>
                  <a:srgbClr val="D0D5DD"/>
                </a:solidFill>
              </a:rPr>
              <a:t>technology stocks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123BB-7A2B-470C-BF3C-64E90B34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CBF4"/>
                </a:solidFill>
              </a:defRPr>
            </a:pPr>
            <a:r>
              <a:rPr sz="3750" b="1">
                <a:solidFill>
                  <a:srgbClr val="6DCBF4"/>
                </a:solidFill>
              </a:rPr>
              <a:t>241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50317-E131-44FA-83F1-E3299BB3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D5DD"/>
                </a:solidFill>
              </a:defRPr>
            </a:pPr>
            <a:r>
              <a:rPr sz="1350" b="0">
                <a:solidFill>
                  <a:srgbClr val="D0D5DD"/>
                </a:solidFill>
              </a:rPr>
              <a:t>trading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42481-81D8-439A-937C-647F1FFA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4,439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22E81-2C6F-4462-A068-BAC77C6C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D5DD"/>
                </a:solidFill>
              </a:defRPr>
            </a:pPr>
            <a:r>
              <a:rPr sz="1350" b="0">
                <a:solidFill>
                  <a:srgbClr val="D0D5DD"/>
                </a:solidFill>
              </a:rPr>
              <a:t>clean news articles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20A55-74F5-4478-B9BA-1CCFAF2B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Camilo Chaves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74E7F-4B6F-4B8C-AEF0-D5FC428B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S&amp;P Global · August 2026</a:t>
            </a:r>
          </a:p>
        </p:txBody>
      </p:sp>
    </p:spTree>
    <p:extLst>
      <p:ext uri="{BB962C8B-B14F-4D97-AF65-F5344CB8AC3E}">
        <p14:creationId xmlns:p14="http://schemas.microsoft.com/office/powerpoint/2010/main" val="16357746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9D97C-0415-4A71-BEFF-C1AF8946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EXECUTIVE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93F99-7587-4474-8787-397474A5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The short answer: not reliably in this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343A0-BD28-489A-8906-BC54A298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95904-8D5F-4832-98DD-22655B0C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News helped during validation...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75BB0-FFAE-4345-9769-D9941C3F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</a:defRPr>
            </a:pPr>
            <a:r>
              <a:rPr sz="1875" b="0">
                <a:solidFill>
                  <a:srgbClr val="667085"/>
                </a:solidFill>
              </a:rPr>
              <a:t>...but the improvement disappeared on the final unseen period.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9E446-7569-4904-9020-FA66161D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2918E-C258-474A-9D6E-6C7A879B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F4555-7B59-4CD1-A84E-D5B95A0A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204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1.261%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F5354-F201-4500-AF62-7D60C177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204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test return MAE · ticker historical mean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2A1B5-F99E-4B32-8177-6B4902C9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14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7DAA6-FE5F-41B0-9564-540F40C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14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1BC87-741A-420F-A6A8-283E3856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29050"/>
            <a:ext cx="204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1.275%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D2518-838C-4E4A-874A-11CBEF2E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71975"/>
            <a:ext cx="204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test return MAE · news-only XGBoost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1F03F-0BC8-417F-B95F-09E8837C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391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E1E49-03C0-4B7F-B755-6E578B37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Champion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485E1-7B00-4A04-BC53-92F2673C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Ticker-specific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historical mean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3B4A7-BC5C-4817-B44D-83AD23AE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480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0D5DD"/>
                </a:solidFill>
              </a:defRPr>
            </a:pPr>
            <a:r>
              <a:rPr sz="1650" b="0">
                <a:solidFill>
                  <a:srgbClr val="D0D5DD"/>
                </a:solidFill>
              </a:rPr>
              <a:t>The simplest model generalized best.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E9D67-80B4-445E-B968-8B346321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CBF4"/>
                </a:solidFill>
              </a:defRPr>
            </a:pPr>
            <a:r>
              <a:rPr sz="1500" b="1">
                <a:solidFill>
                  <a:srgbClr val="6DCBF4"/>
                </a:solidFill>
              </a:rPr>
              <a:t>News remains a challenger—not a production champion.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D90DE-EE86-40B8-810C-A47E5E2D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9438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D7673-3E2F-4416-82A7-CD266DAA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500B0-50A3-4EF4-966F-D6AE2131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Next-day returns are noisy, small, and regime-dependent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7E1BA-6683-43DA-B217-C653994D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4140A-5A33-4B1F-872B-AE3624EE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77F2"/>
                </a:solidFill>
              </a:defRPr>
            </a:pPr>
            <a:r>
              <a:rPr sz="1200" b="1">
                <a:solidFill>
                  <a:srgbClr val="1877F2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75B90-DA69-4DB8-A8B3-F6E52D59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66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Low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74840-09F5-4B66-B44D-A17265F9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Most daily movements are small relative to noise.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33CE9-6EE4-4338-A25A-310A1EE6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D9AEE-5AE5-4E24-ABFE-69C379DE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77F2"/>
                </a:solidFill>
              </a:defRPr>
            </a:pPr>
            <a:r>
              <a:rPr sz="1200" b="1">
                <a:solidFill>
                  <a:srgbClr val="1877F2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AD053-427A-452E-9168-0F5E3B1F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66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Non-stationarity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9BE6C-76D1-4DA9-A271-90943918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336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Relationships change across market regimes.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FE316-79E6-4D88-A1A8-18181CAF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55DE7-732C-4082-8485-464DC848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77F2"/>
                </a:solidFill>
              </a:defRPr>
            </a:pPr>
            <a:r>
              <a:rPr sz="1200" b="1">
                <a:solidFill>
                  <a:srgbClr val="1877F2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E1A3A-762F-4AEC-868B-144649BA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67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Event timing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0505C-1A07-469E-9576-DAF2A2B1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After-close and weekend news complicate alignment.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46E55-74FD-465A-944F-0C14535D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EB15B-2DD1-4EBC-9645-4D0E0855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77F2"/>
                </a:solidFill>
              </a:defRPr>
            </a:pPr>
            <a:r>
              <a:rPr sz="1200" b="1">
                <a:solidFill>
                  <a:srgbClr val="1877F2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92C66-38F7-4B6D-97B9-28A25C8E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67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Strong naive models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2F97A-963E-40CB-9167-CBBE1754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338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A small positive drift can mimic directional skill.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1CA37-1082-4635-B85D-59EBDF38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C80A2-AAB7-4FC1-8F3A-5EDB00DD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7F2"/>
                </a:solidFill>
              </a:defRPr>
            </a:pPr>
            <a:r>
              <a:rPr sz="1275" b="1">
                <a:solidFill>
                  <a:srgbClr val="1877F2"/>
                </a:solidFill>
              </a:rPr>
              <a:t>Design implication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37D1D-7052-4B2A-A0E6-9266AAB5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6388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Evaluation quality matters more than model complexity.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D445E-E667-41FB-AC1C-83526FC9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8706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F65816-A164-4C34-8BDD-054D39E3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02E4E-9E03-4459-85CE-3F74E821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One year of prices and market news across seven stocks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FCCE2-1585-4B45-AC48-0E954164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000FD-4EA6-430C-B929-5B34A8FD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E9D00-DF2E-4C1C-9614-A8B56C3C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B7D75-DA7C-48BC-9DF0-69E7E341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1,687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3F2BC-2ED5-4340-9FCA-F8A728F2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daily OHLCV price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1788A-FC60-40AA-9000-5F45C616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976D7-0FCC-42A8-BFCD-40A0BDE7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B2558-0E8B-4E44-BB9D-6E69B3B0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2880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241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55CD0-BEB5-42A7-8FA2-9616FB55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717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shared trading sessions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2AE5A-4B13-48C2-A02D-E9BE4D27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14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587E5-94BE-40E7-8A7F-E2596B27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14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63FB7-F1B3-4DB5-B102-437B911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E4386-53BD-4F65-8B9D-3FBB0272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717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AAPL · AMZN · GOOGL · META · MSFT · NVDA · TSLA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1C787-717A-493C-A132-01486CF1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14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5D758-F255-4D90-865C-C9576A08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14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607A1-685C-4869-8ADB-2997B5D6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2880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4,439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73149-6D28-4FF1-BD41-3A46AFFD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717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clean FinBERT-scored articles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F0A1F8-562C-48C9-9614-C7F69880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2023-11-13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5CE1F-B74B-42FE-843E-6514F08B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95750"/>
            <a:ext cx="561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23C88C-8C3F-4980-9005-63F526FF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05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2024-10-28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15395-276A-4A21-B980-E0BC71A0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The common date panel keeps cross-sectional comparisons aligned.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2C6E0-2711-480F-9DE7-20266E12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All seven tickers share the same 241 sessions; news coverage is preserved even when no article exists for a ticker-date.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E3B9E-5332-4F28-9D74-27C7872C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8806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56CED9-AA94-44D3-9914-C4C7B4F0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DATA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977AB-84DE-462E-A3DF-93C5A58A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Price data is clean; news requires judgment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E6912-A0DB-4890-803B-C7D7C7D9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19C67-2D14-4509-998B-41CB590D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Price panel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5C736-1369-4882-91C8-7A976489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B76A"/>
                </a:solidFill>
              </a:defRPr>
            </a:pPr>
            <a:r>
              <a:rPr sz="1650" b="1">
                <a:solidFill>
                  <a:srgbClr val="12B76A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76FD0-4715-4972-8B18-772E437B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0 missing values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549AB-C52C-4FB2-870D-D3192B8C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B76A"/>
                </a:solidFill>
              </a:defRPr>
            </a:pPr>
            <a:r>
              <a:rPr sz="1650" b="1">
                <a:solidFill>
                  <a:srgbClr val="12B76A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F88DD-4A4C-4661-973D-75AC517B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0 duplicate ticker-dates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85FD7-790D-4EC7-9D91-6F26B8DF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B76A"/>
                </a:solidFill>
              </a:defRPr>
            </a:pPr>
            <a:r>
              <a:rPr sz="1650" b="1">
                <a:solidFill>
                  <a:srgbClr val="12B76A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14477-2794-4C2A-BC13-0165085B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385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0 nonpositive prices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78D1E-DA1B-405B-9021-EE27540E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B76A"/>
                </a:solidFill>
              </a:defRPr>
            </a:pPr>
            <a:r>
              <a:rPr sz="1650" b="1">
                <a:solidFill>
                  <a:srgbClr val="12B76A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C40F5-8A79-4AEF-8D13-D74CF080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909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0 OHLC consistency violations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FDF20-C622-4138-AF37-BFFB6DDD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B76A"/>
                </a:solidFill>
              </a:defRPr>
            </a:pPr>
            <a:r>
              <a:rPr sz="1650" b="1">
                <a:solidFill>
                  <a:srgbClr val="12B76A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A41DD-2219-433E-B7A9-DDB52613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434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0 negative-volume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C010C-DF2F-49F7-AD6C-24418925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8592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DD7E8-F8BD-42EE-91CC-71D3C3AC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News corpus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9C52E-1E4E-424A-B9A2-5CC4E58B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B76A"/>
                </a:solidFill>
              </a:defRPr>
            </a:pPr>
            <a:r>
              <a:rPr sz="1650" b="1">
                <a:solidFill>
                  <a:srgbClr val="12B76A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EE84F-43C4-424C-9F2E-0ABF9494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336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1 exact duplicate removed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00A77F-F91A-45D6-8A54-896F35DE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860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9009"/>
                </a:solidFill>
              </a:defRPr>
            </a:pPr>
            <a:r>
              <a:rPr sz="1650" b="1">
                <a:solidFill>
                  <a:srgbClr val="F79009"/>
                </a:solidFill>
              </a:rPr>
              <a:t>!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59827-557C-44A0-BEBA-35CBAA18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860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35 repeated ticker–timestamps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37880-8C91-4D4C-ABD4-BA2C5306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3852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9009"/>
                </a:solidFill>
              </a:defRPr>
            </a:pPr>
            <a:r>
              <a:rPr sz="1650" b="1">
                <a:solidFill>
                  <a:srgbClr val="F79009"/>
                </a:solidFill>
              </a:rPr>
              <a:t>!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F854D-C4B8-4901-8DD7-045B9D7B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4385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139 repeated ticker–headline pairs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443923-1A91-49B2-B757-5678F03E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909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9009"/>
                </a:solidFill>
              </a:defRPr>
            </a:pPr>
            <a:r>
              <a:rPr sz="1650" b="1">
                <a:solidFill>
                  <a:srgbClr val="F79009"/>
                </a:solidFill>
              </a:rPr>
              <a:t>!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DEAA9E-F27F-4C9F-801D-50B2EB6D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909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Shared timestamps often contain distinct stories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B8371F-43A3-450B-AE3C-71D97F97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4342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9009"/>
                </a:solidFill>
              </a:defRPr>
            </a:pPr>
            <a:r>
              <a:rPr sz="1650" b="1">
                <a:solidFill>
                  <a:srgbClr val="F79009"/>
                </a:solidFill>
              </a:rPr>
              <a:t>!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3089B-863C-4695-BBCC-5DF48C3F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434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Recurring coverage may overweight events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981C22-DA85-4A04-B650-8ED033D7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45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942A85-5AD8-4982-9A93-6D3DCA74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Rule: remove exact duplicates; preserve plausible distinct coverage and control redundancy through aggregation.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3D0BBD-0C0A-41C7-9F90-7714D0BB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98512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4878A-9235-4364-863A-C4363627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MARKET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3B5E4-2BA6-4A90-A072-F3EC7705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NVIDIA dominated cumulative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6AF5C-9220-4247-BA44-28F04E20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5f94efec44bb1"/>
          <a:stretch xmlns:a="http://schemas.openxmlformats.org/drawingml/2006/main"/>
        </p:blipFill>
        <p:spPr>
          <a:xfrm xmlns:a="http://schemas.openxmlformats.org/drawingml/2006/main">
            <a:off x="609600" y="1724394"/>
            <a:ext cx="7762875" cy="41235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8AB4F-7AF1-40EA-AE1A-E292E0D2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764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6C44F-24CC-4475-B961-E8F14C05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71675"/>
            <a:ext cx="257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The universe does not move uniformly.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1F519-2FBF-41F5-BDEE-7AE2FBF8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71875"/>
            <a:ext cx="2571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NVDA approached 3× its initial level, while TSLA was comparatively weak and unstable. Price levels alone are unsuitable for cross-ticker modeling.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2E2FB-F264-4342-9B96-37DFE44D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5186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BEC8-3FB7-4EE0-B5DB-AC67951C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MARKET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03425-BEDF-458E-BAD0-F9631068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Volatility differs sharply across tickers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46022-80BC-4974-9E97-8B8A7F01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46dc81fc94830"/>
          <a:stretch xmlns:a="http://schemas.openxmlformats.org/drawingml/2006/main"/>
        </p:blipFill>
        <p:spPr>
          <a:xfrm xmlns:a="http://schemas.openxmlformats.org/drawingml/2006/main">
            <a:off x="609600" y="1547652"/>
            <a:ext cx="7762875" cy="447707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3DC01-ADF6-4BF5-AFBC-08128998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764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1B665-AA7C-4C26-80F0-E1AE686E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71675"/>
            <a:ext cx="257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TSLA and NVDA are the hardest names.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BE594-BFFE-4C98-B08A-BDC59FFA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71875"/>
            <a:ext cx="2571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Their wider, heavier-tailed return distributions translate into larger forecast errors. MSFT and AAPL are comparatively concentrated.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D0A8F-2ADE-4931-BB05-5730D8A1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53722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3F5A9-AEB1-406B-8A92-7144CD6A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MARKET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4CB8D-6ADB-4CBA-8072-267EC2E7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Returns share market signal, but Tesla is more idiosyncratic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A5F67-B774-4120-8FFB-F9B6F591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d3269fd3b418c"/>
          <a:stretch xmlns:a="http://schemas.openxmlformats.org/drawingml/2006/main"/>
        </p:blipFill>
        <p:spPr>
          <a:xfrm xmlns:a="http://schemas.openxmlformats.org/drawingml/2006/main">
            <a:off x="1887263" y="1524000"/>
            <a:ext cx="5207549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2309F-D6D5-4F36-8D63-CC7D6D30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764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F381C-5843-4B9A-951D-BB46F192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71675"/>
            <a:ext cx="257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Correlation is positive—but incomplete.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8AEA7-4DCC-4270-88B9-8A773D4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71875"/>
            <a:ext cx="2571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GOOGL–AMZN reaches 0.62. TSLA correlations are weaker, supporting both market-context and ticker-specific features.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20F8C-11E5-4E91-B759-E59B556D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43819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D389F-368F-4102-A047-A9ABF628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MARKET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169D3-AFC0-4053-9A3B-7923EDC3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Extreme days are signal-bearing—not data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845B4-F644-4C30-AD9E-10B4C5ED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5532257e84ca5"/>
          <a:stretch xmlns:a="http://schemas.openxmlformats.org/drawingml/2006/main"/>
        </p:blipFill>
        <p:spPr>
          <a:xfrm xmlns:a="http://schemas.openxmlformats.org/drawingml/2006/main">
            <a:off x="883885" y="1524000"/>
            <a:ext cx="7214306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06F76-0D2F-4390-9807-8FF552B8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764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5CF87-9673-4B20-ADE6-B6E44BA4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71675"/>
            <a:ext cx="257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Large moves cluster in TSLA, NVDA, and META.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59C83-9644-4B9B-8957-767A403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71875"/>
            <a:ext cx="2571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Removing them would make the task easier by deleting the behavior the forecast is expected to handle.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A634C-FEC9-4549-A0C3-4A469531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22577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D611E-6E7F-47D2-AC61-ED7DDF91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NEWS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EAD1C-8080-4E73-9948-3F752BF3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Media attention is highly uneven across companies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E2541-436E-4AB9-A1A7-387145BC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6d88c0fc543cf"/>
          <a:stretch xmlns:a="http://schemas.openxmlformats.org/drawingml/2006/main"/>
        </p:blipFill>
        <p:spPr>
          <a:xfrm xmlns:a="http://schemas.openxmlformats.org/drawingml/2006/main">
            <a:off x="609600" y="1896982"/>
            <a:ext cx="5334000" cy="3159286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1ae06f00b456d"/>
          <a:stretch xmlns:a="http://schemas.openxmlformats.org/drawingml/2006/main"/>
        </p:blipFill>
        <p:spPr>
          <a:xfrm xmlns:a="http://schemas.openxmlformats.org/drawingml/2006/main">
            <a:off x="6191250" y="2044383"/>
            <a:ext cx="5391150" cy="286448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C2A3B-E01D-408B-9645-2FF79589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AMZN receives more than twice the coverage of GOOGL or META.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9B9A9-4EAA-4685-80BE-7017992A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539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Volume spikes around active event periods and varies by source attention.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26BDE-AEA1-488C-A3E7-D064C8D1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11945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4E8205-6FA3-48D8-856B-3C0FF714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NLP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199CC-78AE-4984-B7BA-30872FD2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FinBERT converts articles into daily financial-tone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77AA3-05D2-400F-A6A4-FACAF6F1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17EA2-7A5B-45A1-8D76-8243FE88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985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07D1A-D187-48C5-9FBA-999BCAD8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838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BBA2F-02FE-46C1-AB3E-98151454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3AE71-C2BB-4504-B061-5354AFA0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Article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ED31E-3344-40E7-A127-D1CE2464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Headline +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2D54C-7BC9-4C96-8067-EBD1B5E2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0275"/>
            <a:ext cx="838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F015F-19AE-4BAE-8F63-1C4749F2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0275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2A104-42C2-474F-BFBD-40784421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242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FinBERT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8B184-6FE5-4E09-8483-B7326437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5285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Positive · neutral · negative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14145-F2BA-4417-902D-6C27D7CE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00275"/>
            <a:ext cx="838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FE638-49D6-4ED6-B6B8-B5874BEC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00275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ED9D9-C1E6-4413-8DF3-12B15C1F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242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Daily aggregation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11F58-4B5D-4002-B465-4182278F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5285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Tone · dispersion · composition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56BB8-9966-4EA1-B614-56C42717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00275"/>
            <a:ext cx="838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08A5E-8FC0-49A5-B7DB-8A2038A9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00275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BA7C9-6460-4A30-AA89-EB293838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242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Forecast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117DB-5935-4287-88A5-121CA71B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5285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Join to next trading session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988B0-396A-48FA-81DB-02794690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46318-74B5-4FFC-B29D-FCD61E45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77F2"/>
                </a:solidFill>
              </a:defRPr>
            </a:pPr>
            <a:r>
              <a:rPr sz="1425" b="1">
                <a:solidFill>
                  <a:srgbClr val="1877F2"/>
                </a:solidFill>
              </a:rPr>
              <a:t>Feature extractor—not forecaster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271C5-459F-4AB1-A01A-70A63A4E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449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FinBERT supplies sentiment probabilities; XGBoost learns the return relationship.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880581-3537-48DF-846C-DB78F8D0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5391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3B69A2-F990-4992-97C5-B9577BF0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00650"/>
            <a:ext cx="493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9009"/>
                </a:solidFill>
              </a:defRPr>
            </a:pPr>
            <a:r>
              <a:rPr sz="1425" b="1">
                <a:solidFill>
                  <a:srgbClr val="F79009"/>
                </a:solidFill>
              </a:rPr>
              <a:t>Conservative alignment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A86DA6-E5BB-4E86-A65B-96BC42F5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62600"/>
            <a:ext cx="4933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Undocumented timezone → assign news to the first trading session strictly after publication date.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E3D85D-7BC5-4E18-8846-62224CE7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25910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FD166-A36A-487E-A322-2CC212B3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PREDICTION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3FD5B-4BCA-46F8-BF14-39BA37F8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The prediction contract fixes what is known—and when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5613B-B914-47CB-8E19-47222E17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E1B47-DE0B-4E9E-ABDC-456FAC39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77F2"/>
                </a:solidFill>
              </a:defRPr>
            </a:pPr>
            <a:r>
              <a:rPr sz="1800" b="1">
                <a:solidFill>
                  <a:srgbClr val="1877F2"/>
                </a:solidFill>
              </a:rPr>
              <a:t>At the end of trading day 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4B41D-69CA-43EF-9BBB-DB0DDC25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Predict the close-to-close return on trading day t+1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F9E2C-4175-49FD-AF71-AF14D5A4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EE97D-4AE5-4410-95B4-D24B305A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rₜ₊₁ = Closeₜ₊₁ / Closeₜ − 1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17C16-74D5-4080-8DA9-A91C798F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77F2"/>
                </a:solidFill>
              </a:defRPr>
            </a:pPr>
            <a:r>
              <a:rPr sz="1800" b="1">
                <a:solidFill>
                  <a:srgbClr val="1877F2"/>
                </a:solidFill>
              </a:rPr>
              <a:t>Convert the return prediction back to a price forecast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002E1-086D-460C-9069-DCD24848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391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A461F-72DE-4518-BF22-3909B31C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71725"/>
            <a:ext cx="4914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Ĉloseₜ₊₁ = Closeₜ × (1 + r̂ₜ₊₁)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B2D55-F2AA-45FE-A0F0-76CC31AC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86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Primary metrics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245B6-6DCA-458A-B0B5-3925A996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Return MAE · Return 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137D7-B745-4225-9013-E11CF9DD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Secondary metrics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9A3F5-521F-4255-8DF8-F548E74A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Price MAE · Price RMSE · Direction 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F4580-2A7A-41A3-9E3F-1E5A3F4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30CFA-B477-42B5-93BD-24414B75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Returns improve cross-ticker comparability and reduce the illusion of accuracy created by persistent price levels.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A3F17-A0D7-4F40-BB5A-17FC45F0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45735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C0C2AE-39A9-4765-92C3-5D40468B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E60F3-E7D1-4A6F-A3A3-BCC460DB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Chronological splits protect the final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7AB2C-E699-4CAA-B62A-E1AC95CC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74B35-48A4-4111-B8E8-FF8FD162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</a:defRPr>
            </a:pPr>
            <a:r>
              <a:rPr sz="1275" b="1">
                <a:solidFill>
                  <a:srgbClr val="667085"/>
                </a:solidFill>
              </a:rPr>
              <a:t>Past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2CFB9-49F0-4CE6-99A4-40887353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90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</a:defRPr>
            </a:pPr>
            <a:r>
              <a:rPr sz="1275" b="1">
                <a:solidFill>
                  <a:srgbClr val="667085"/>
                </a:solidFill>
              </a:rPr>
              <a:t>Future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FBB74-CE11-49FC-BBEB-A3C3DCAA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81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ADAFA-7822-47AA-B062-9B912407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16800-2BA7-4AB1-8502-62D8D8C9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2686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5C6C1-6D29-4B31-9F4F-9CA92B17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2686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4F5E2-D4EC-4D15-87FF-A3C530E8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4315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7A51C-4F70-4FC4-BBB3-59966E5D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431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32172-7A91-4008-865F-A7F04926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Fit parameters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7143A-F4E9-4703-BE90-7791EB4C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0425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Select features + models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12EB9-28CB-4D44-B10C-3D165043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004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One final 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5949A-3D76-487C-9520-E2F84DA0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B76A"/>
                </a:solidFill>
              </a:defRPr>
            </a:pPr>
            <a:r>
              <a:rPr sz="1575" b="1">
                <a:solidFill>
                  <a:srgbClr val="12B76A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026E9-6927-4A62-AE48-E8B10860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No random shuffle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9C7D6-F63E-4303-966A-D1B4FB41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4340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B76A"/>
                </a:solidFill>
              </a:defRPr>
            </a:pPr>
            <a:r>
              <a:rPr sz="1575" b="1">
                <a:solidFill>
                  <a:srgbClr val="12B76A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123E4-5493-4BB8-B44A-D5B00A97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434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All tickers from one date stay together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5AE78-0926-4BDD-B92E-C9472CDF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B76A"/>
                </a:solidFill>
              </a:defRPr>
            </a:pPr>
            <a:r>
              <a:rPr sz="1575" b="1">
                <a:solidFill>
                  <a:srgbClr val="12B76A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A02BE-ABD5-46A3-8A25-5B269F25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Rolling features use present and past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97FAC-A3B4-43C6-B90C-047290C6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B76A"/>
                </a:solidFill>
              </a:defRPr>
            </a:pPr>
            <a:r>
              <a:rPr sz="1575" b="1">
                <a:solidFill>
                  <a:srgbClr val="12B76A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27189-4C6A-4D8F-807E-C9E9B3B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19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Final test is untouched during selection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C0501F-F06E-4EB3-ADFD-277A0E40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871556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914C4A-5E6F-42B3-AEA9-CAA3EDD0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FEATURE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75F7A-31D7-4968-BD4C-1AE69950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Features capture momentum, risk, context, and news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48368-6B29-44F4-A015-EE834063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F7A48-1507-4A3A-B9F7-83A37494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77F2"/>
                </a:solidFill>
              </a:defRPr>
            </a:pPr>
            <a:r>
              <a:rPr sz="1500" b="1">
                <a:solidFill>
                  <a:srgbClr val="1877F2"/>
                </a:solidFill>
              </a:rPr>
              <a:t>Momentum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655D6-DC9C-475D-B6A3-1EAD41D7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619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1-, 2-, 5-, 10-, 20-day returns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B36A1-3B4B-4882-BF4F-95F0F609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3453B-ADC5-464A-9C82-3BA75F3C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77F2"/>
                </a:solidFill>
              </a:defRPr>
            </a:pPr>
            <a:r>
              <a:rPr sz="1500" b="1">
                <a:solidFill>
                  <a:srgbClr val="1877F2"/>
                </a:solidFill>
              </a:rPr>
              <a:t>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28C02-655D-4582-849A-0B04A0AB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9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Rolling volatility · intraday 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2BDFE-D0A4-46DF-AC74-CA72110F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046DF-4593-4A90-AB8F-D2D6F775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77F2"/>
                </a:solidFill>
              </a:defRPr>
            </a:pPr>
            <a:r>
              <a:rPr sz="1500" b="1">
                <a:solidFill>
                  <a:srgbClr val="1877F2"/>
                </a:solidFill>
              </a:rPr>
              <a:t>Trend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F0D62-FA6B-4905-854E-37D35293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6765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Price relative to moving averages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8A101-8E1A-43A0-8C32-B6347E28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FD385-E73B-49A4-8C9D-EACBBDD0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77F2"/>
                </a:solidFill>
              </a:defRPr>
            </a:pPr>
            <a:r>
              <a:rPr sz="1500" b="1">
                <a:solidFill>
                  <a:srgbClr val="1877F2"/>
                </a:solidFill>
              </a:rPr>
              <a:t>Volume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9FA6A-2471-47D6-9146-F0D27358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765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Change · relative 20-day volume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33037-16D9-4805-8F78-A5FF9DC5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194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50DCC-3829-42B3-9695-B6846EE6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77F2"/>
                </a:solidFill>
              </a:defRPr>
            </a:pPr>
            <a:r>
              <a:rPr sz="1500" b="1">
                <a:solidFill>
                  <a:srgbClr val="1877F2"/>
                </a:solidFill>
              </a:rPr>
              <a:t>Market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4D42B-F464-4828-9688-EE3F88B4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7338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Equal-weight return · relative return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EC523-95E9-4DA5-90B4-896D9A07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0092C-EF20-429A-86E5-40D55B32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77F2"/>
                </a:solidFill>
              </a:defRPr>
            </a:pPr>
            <a:r>
              <a:rPr sz="1500" b="1">
                <a:solidFill>
                  <a:srgbClr val="1877F2"/>
                </a:solidFill>
              </a:rPr>
              <a:t>News intensity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6BBAF-995E-4849-AC85-5254B4BD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338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Counts · unique headlines · availability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3C7226-07EC-4D89-8D4D-41C77DEE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71519-1C06-4663-84FF-9EB69A8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77F2"/>
                </a:solidFill>
              </a:defRPr>
            </a:pPr>
            <a:r>
              <a:rPr sz="1500" b="1">
                <a:solidFill>
                  <a:srgbClr val="1877F2"/>
                </a:solidFill>
              </a:rPr>
              <a:t>News tone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047F6B-1C9E-435D-B839-8105AD84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7910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Mean · median · min · max · dispersion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4E552D-393B-49B4-84DD-5083AF87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21499-E14F-4BCF-833C-56761DF8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910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77F2"/>
                </a:solidFill>
              </a:defRPr>
            </a:pPr>
            <a:r>
              <a:rPr sz="1500" b="1">
                <a:solidFill>
                  <a:srgbClr val="1877F2"/>
                </a:solidFill>
              </a:rPr>
              <a:t>Composition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BB34D-6DE4-464A-B8A5-D89FF9F3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910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Positive · neutral · negative shares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EDEC3F-68C2-4CAA-8AE0-90D99EAD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340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6BEBFA-36E7-4B00-A781-47F69505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374906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0926D-9565-4D0A-9486-6A7F5DB4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MODEL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EF4FE-09C9-4395-AA92-00C0CFE0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Every complex model must beat historical drift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727F7-2634-43D0-93E0-93916C1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D8DE9-9F70-45AA-93EF-D7F6B942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Baselines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A0210-7D9A-4EFF-8D72-C25355B2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32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1AD01-795E-4494-B52E-27460096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Random walk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Global historical mean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Ticker historical mean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29A9C-DFF9-4302-8944-47F01DBF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Linear + trees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923C9-49DD-4ADE-B390-B4A206AE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95550"/>
            <a:ext cx="232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31148-4BE5-4E79-BE7A-63B86D5E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28925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Ridge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XGBoost: price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XGBoost: news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XGBoost: combined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B74BF-03C2-4511-95FA-CDB858D5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Classical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83613-D428-4C4E-A373-CAB0D2FD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232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A96B7-9C38-4FD7-9D89-ED604FFA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28925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Damped Holt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ARIMA(1,0,0)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Walk-forward 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C53AE-8144-4BE5-AAA9-B7DD8023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Ensemble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8CCF0-4373-416B-800A-8D213279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95550"/>
            <a:ext cx="232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AF19E-0266-4E17-ADD3-DF9F5508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28925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Validation-weighted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combination of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selected forecasts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296F2-0C73-426E-BA63-120C3219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E6BEB-898B-47E3-AE50-9FAE2FE8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A model does not earn deployment because it is sophisticated—it earns deployment by improving unseen-period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E87EB-490C-42FD-931F-F711E43A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827626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C366A-6542-455A-B9D5-3310EABF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VALIDATION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612C2-75FD-4D46-BD5E-F6804A57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News-only XGBoost wins validation—by a narrow margin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B4DEB-EC5E-4FC0-A9BB-DCDAD75D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c058437172425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B1AD5-189A-4830-A518-8E957044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20148-0291-4F27-81FF-95282B0A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B76A"/>
                </a:solidFill>
              </a:defRPr>
            </a:pPr>
            <a:r>
              <a:rPr sz="1425" b="1">
                <a:solidFill>
                  <a:srgbClr val="12B76A"/>
                </a:solidFill>
              </a:rPr>
              <a:t>1.925%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350C7-4B73-4846-A414-2B0A8C18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2400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News-only XGBoost validation return MAE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F03C2-2199-4799-A266-837E743B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Promising—but not decisive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36A40-2D29-424A-954B-42E49498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00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The margin is small, and a single validation regime cannot establish stability.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B0428-613D-4E61-A2AE-2ECA756C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269571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D4DB4-A985-48B9-AFE9-E03ED5E0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FINAL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D76C0-C8D7-416E-8802-A3DD37C7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The validation advantage disappears on the final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882B0-0C62-4481-9BFC-28856AC3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b470585304bae"/>
          <a:stretch xmlns:a="http://schemas.openxmlformats.org/drawingml/2006/main"/>
        </p:blipFill>
        <p:spPr>
          <a:xfrm xmlns:a="http://schemas.openxmlformats.org/drawingml/2006/main">
            <a:off x="609600" y="1695081"/>
            <a:ext cx="7762875" cy="418221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7371D-9B7F-49D0-B90E-BED59313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764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3A2A8-2607-4050-8AE5-ECF709C4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71675"/>
            <a:ext cx="257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Ticker historical mean wins.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C5253-2727-4389-9FCB-B619D4A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71875"/>
            <a:ext cx="2571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News-only XGBoost falls behind every historical-mean baseline. The ranking changes across regimes.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87661-6972-4BD0-8A6F-B197534C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220722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6F6586-C46F-4824-A1DB-172CE8CE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FINAL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55E61-BC28-48FF-A75B-2E08DCC9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Historical drift leads every final test metric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FA910-143F-4F94-A0D6-AC3F962D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C7E79-CBD7-4749-9CE1-A72246F1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2C0AE-AE4C-465F-B5E6-516BD3A2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FD914-E6A7-41DD-B1FF-5F02229D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76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Price MAE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106F8-264E-4BE9-B983-5C561C59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Return MAE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0D8A4-503F-4823-BC47-1514B4ED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Return RMSE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1FC75-0C50-4858-95EB-B9666B5A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764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0C458-EAAE-4651-9732-64A1F3F1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5CCCD-BD16-45B9-BD2E-7E781C32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Ticker historical mean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EE85B-1AB0-46A3-BE7E-A364716B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77F2"/>
                </a:solidFill>
              </a:defRPr>
            </a:pPr>
            <a:r>
              <a:rPr sz="1275" b="1">
                <a:solidFill>
                  <a:srgbClr val="1877F2"/>
                </a:solidFill>
              </a:rPr>
              <a:t>$3.184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E942A-0F12-4D52-9F4D-24778CDA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77F2"/>
                </a:solidFill>
              </a:defRPr>
            </a:pPr>
            <a:r>
              <a:rPr sz="1275" b="1">
                <a:solidFill>
                  <a:srgbClr val="1877F2"/>
                </a:solidFill>
              </a:rPr>
              <a:t>1.261%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0B8B2-871B-4DFC-B867-DB5FF8EE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77F2"/>
                </a:solidFill>
              </a:defRPr>
            </a:pPr>
            <a:r>
              <a:rPr sz="1275" b="1">
                <a:solidFill>
                  <a:srgbClr val="1877F2"/>
                </a:solidFill>
              </a:rPr>
              <a:t>2.214%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26D8B-B4CB-4F0C-9178-4475DE86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190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77F2"/>
                </a:solidFill>
              </a:defRPr>
            </a:pPr>
            <a:r>
              <a:rPr sz="1275" b="1">
                <a:solidFill>
                  <a:srgbClr val="1877F2"/>
                </a:solidFill>
              </a:rPr>
              <a:t>58.01%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D79A6-11A0-40EE-957A-4E94BEEA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9EE1A-1C52-4380-9691-FFABB8F2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XGBoost · price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354501-9A36-4F5D-9770-2D083B89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71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$3.199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6DF4B-B1CD-494D-A4BA-705BE314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71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1.266%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809342-EFDD-4133-A818-EFDEA4FE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717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2.215%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A5AB8-8323-42DA-AA34-A67918ED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717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58.01%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B51BD-E79B-43E9-8E6E-EA37E990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XGBoost · price + news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2193E-A959-45E6-8ACB-0B1AAF9E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52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$3.200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6DF5D-ABC8-49DD-B9AC-9D87E804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1.267%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D0C335-8B9E-46CB-A03C-1A1B03C5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2.216%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9D4328-5415-43CE-A522-4415673E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3528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58.01%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2DC158-DFA5-4620-942E-2DD2F5CA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0F949E-AD8C-4E08-934E-A1D6F4BE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33825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Global historical mean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5667F3-ED12-4613-882C-9CD6E90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338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$3.201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A8192-8DBF-41CD-A1FF-C9EB9DA3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338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1.267%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9FE592-625A-4F23-9F2E-3425863A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338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2.215%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4AE62F-DCB7-4D0A-B749-60867219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9338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58.01%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EFB952-7260-4ADA-807D-94B0B8A7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News-only XGBoost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BF30D8-88FE-4575-B2A1-DAD1708D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$3.229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B37B5B-1BB0-4252-B472-EAA8C7CB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1.275%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03B03E-78F7-4C57-B01A-85D6E841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2.227%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1B3B18-3907-4839-ACB1-9276BD54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148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58.01%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6E0987-B28B-44A1-AA90-A3E22220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4345A8-A33B-400E-AD4C-9785A1E8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ARIMA(1,0,0)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2E5ED2-B3C2-4FCC-B533-26E00ABB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958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$3.208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D484AE-DDE3-4D19-A214-DD53A2D5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1.276%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959CC8-59DE-486F-915D-D688AA42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2.224%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3E29B8-DEAD-48F2-A595-8F653573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958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55.41%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3D6992-5D49-4AAF-81E4-2AEE6E1B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350160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590BD-948C-487D-9704-C4C05918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C5FD9-DF9A-4184-A486-DFDB5873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58% direction accuracy is the majority-up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C454C-5EEE-43CE-9D20-ED0DCC31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b89249b96b433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4DC25-62EF-408C-B0A2-F3973BA6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50624-9F62-4BF0-BE14-C1BE17C2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383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58.01%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BA673-CB1F-4B58-8C5C-671658BB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384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5DD"/>
                </a:solidFill>
              </a:defRPr>
            </a:pPr>
            <a:r>
              <a:rPr sz="1275" b="0">
                <a:solidFill>
                  <a:srgbClr val="D0D5DD"/>
                </a:solidFill>
              </a:rPr>
              <a:t>positive-return base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21EC5-356F-4E29-9945-BC48E1EB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No discrimination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6F43B-EDC7-4AC1-9C22-69B19034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81475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Matching the majority class does not mean the model identifies which days will rise.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9E8C4-8AFF-4D5E-91AA-12C6B2EA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389681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D4E24-BE63-4BF0-85CA-C2BECF45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ERROR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4963E-C71F-4ADF-838A-E983C2C1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News improves only one of seven tickers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E2C76-2C34-49BC-8E0D-A2086A41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810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3191cbd736429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D5F68-0163-4693-8FA7-DDB81B20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D4563-A2BD-417B-B146-D1155FDC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812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B76A"/>
                </a:solidFill>
              </a:defRPr>
            </a:pPr>
            <a:r>
              <a:rPr sz="1425" b="1">
                <a:solidFill>
                  <a:srgbClr val="12B76A"/>
                </a:solidFill>
              </a:rPr>
              <a:t>GOOGL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3E9C8-F70B-4F2B-9A6B-497F9F2C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4315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0.773% news XGB vs 0.797% ticker mean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8DE03-78FC-4525-A236-CE533101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480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Volatility dominates difficulty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8E527-5AF5-4785-B9BA-66BF2E56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29125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TSLA and NVDA remain the largest-error names under every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87DE1-9C94-4E1F-9848-35259000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291397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2B608-9B06-4302-939E-7A1F0BDF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FEATURE IMPORTANCE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E7C11-00CA-4B1C-B023-7F46575B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News tone matters more than news volume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CE629-415D-4E67-8E83-4447964F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f02bb0e0e49b0"/>
          <a:stretch xmlns:a="http://schemas.openxmlformats.org/drawingml/2006/main"/>
        </p:blipFill>
        <p:spPr>
          <a:xfrm xmlns:a="http://schemas.openxmlformats.org/drawingml/2006/main">
            <a:off x="1192565" y="1524000"/>
            <a:ext cx="6596944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F1BC2-3EBC-4273-ADAE-2B4FCC74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764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0EDB5-0591-4566-AF31-F175D2FE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71675"/>
            <a:ext cx="257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Median and mean sentiment rank highest.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639CB-3F88-49E6-B832-553E6488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71875"/>
            <a:ext cx="2571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Article count, unique headlines, and simply having news contribute approximately zero. Uncertainty remains substantial.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BF3B2-AC95-4D86-AC9E-75999F48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090935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9F0BF2-55E2-4877-A50B-9B29F6EA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ERROR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8ACF3-2C2C-4218-9C03-4C064863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News days are harder—and the model does not fix them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D470A-EA1E-4B71-8563-003FDA1C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2CABC-387A-42AE-A897-7607F901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Days without 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0692E-6EE1-494D-833C-511F310C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AD412-B234-4ABB-A143-80361FA7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904B6-2002-4912-A226-FE396645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0.940%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F584D-81D9-4BD7-8E74-4C7017B7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1857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historical-mean return MAE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D803D-B430-41E8-985F-02A2F768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8600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29A92-8E91-46A0-A78E-4CAF1396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860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50BA5-8DA9-4414-A369-83E8B6F2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030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0.932%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85F91-3A5D-418C-8D91-4871FDC1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43225"/>
            <a:ext cx="1857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news-XGB return MAE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BC7A7-C8B5-4151-B927-754D1F04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Days with news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330A3-6031-4443-9DE9-601E8187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AE76D-FB21-404B-B6C7-DA1DF199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82EA9-84CF-4C12-836E-A2E786C6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1.334%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6C4B1-7A97-4561-A65A-3B88E0C2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43225"/>
            <a:ext cx="1857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historical-mean return MAE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D09F1-3935-4AF4-947C-1BE55697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B9E70-B684-4799-8B73-83462BB9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A21183-80B6-447A-9A98-67DD0402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1.344%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A6CFD-E774-4952-84D0-4452F034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43225"/>
            <a:ext cx="1857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news-XGB return MAE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A318C-196A-497F-8F60-82ABE93A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153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9AE8A5-2090-411C-8F3B-96CECD3F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77F2"/>
                </a:solidFill>
              </a:defRPr>
            </a:pPr>
            <a:r>
              <a:rPr sz="1350" b="1">
                <a:solidFill>
                  <a:srgbClr val="1877F2"/>
                </a:solidFill>
              </a:rPr>
              <a:t>Interpretation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0C6AD5-B2A4-4C6C-B5C2-320E8110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57700"/>
            <a:ext cx="8429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Coverage concentrates around material announcements and unusual activity. News availability is associated with difficulty, not necessarily its cause.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2538EB-A959-4FE7-8AA8-75D29405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314950"/>
            <a:ext cx="842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2D20"/>
                </a:solidFill>
              </a:defRPr>
            </a:pPr>
            <a:r>
              <a:rPr sz="1575" b="1">
                <a:solidFill>
                  <a:srgbClr val="D92D20"/>
                </a:solidFill>
              </a:rPr>
              <a:t>On active-news days, news-only XGBoost is slightly worse than historical drift.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10945-19DF-4E21-9D80-41777D93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366525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CC209-6D6A-443A-8D26-2AF31D53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13DEF-B145-48B8-834B-3DDF8240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The evidence supports a champion–challenger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0B836-CF3F-4FDB-B14E-A42FE9D2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AE0E1-D507-42B3-AD49-EDA5BCB5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77F2"/>
                </a:solidFill>
              </a:defRPr>
            </a:pPr>
            <a:r>
              <a:rPr sz="1350" b="1">
                <a:solidFill>
                  <a:srgbClr val="1877F2"/>
                </a:solidFill>
              </a:rPr>
              <a:t>Champion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2D6C9-6192-4476-B1AD-BF5A5130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Ticker historical 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7C271-065E-4279-83C7-8E0449F5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Lowest final test error · transparent · stable relative to challengers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39C17-FF24-4078-BBC0-93B05F0B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5CF73-EB35-4C25-B3C2-57BC496C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Deploy as benchmark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EC69A-08B9-49BB-83F8-46D7308C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 Price MAE: $3.184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0814B-8DA9-4AEF-9B48-B6F6FFFF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 Return MAE: 1.261%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23E7C-F5D0-40E9-9926-7384785D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9009"/>
                </a:solidFill>
              </a:defRPr>
            </a:pPr>
            <a:r>
              <a:rPr sz="1350" b="1">
                <a:solidFill>
                  <a:srgbClr val="F79009"/>
                </a:solidFill>
              </a:rPr>
              <a:t>Challenger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367E3-7ED8-4786-A01F-659115F6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News-only XGBoost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814F4-E62B-4A5F-B278-2F18F705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Best validation result · GOOGL benefit · unstable final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1F9D7-9E85-4F61-9E71-A7D150EB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FD20B-A9F3-4C34-8EF1-CCB97ADA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Continue 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A8B9B-D820-4FF6-9A77-D73B677E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 Longer history + multiple regimes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4660E-720F-4F97-B359-4DFD8A43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339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 Better event timing + relevance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CC3D9-487B-4516-899C-A5B536B8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Negative results are valuable when they prevent unstable complexity from reaching production.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B9AB7-2E79-4054-9132-2A3E2DB9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14421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DF9EC2-2DAF-4AA4-8C37-AABDBDEC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176C0-AC2C-4A14-A408-1ACBDA45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Improve the evidence before increasing complexity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99830-24D1-4DFC-AB7A-88B8F755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9EADF-D87D-4AB2-B546-80E6A5F4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7F2"/>
                </a:solidFill>
              </a:defRPr>
            </a:pPr>
            <a:r>
              <a:rPr sz="1275" b="1">
                <a:solidFill>
                  <a:srgbClr val="1877F2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8694A-D3E0-41B1-A325-3146DB16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00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Broader regimes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43AD4-D80A-4136-B17C-69DCB7F0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002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Extend history and use expanding-window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DEB68-D925-4DAA-89E5-7958A23F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412E7-441F-49E9-8E57-225D7AE3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7F2"/>
                </a:solidFill>
              </a:defRPr>
            </a:pPr>
            <a:r>
              <a:rPr sz="1275" b="1">
                <a:solidFill>
                  <a:srgbClr val="1877F2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31E59-836F-4893-B015-D393FA1B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289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Market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A6219-1478-4C12-8701-8E1383D8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Add QQQ, S&amp;P 500, VIX, rates, sectors, and earnings calendars.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51E2A-4A3C-48AF-B45A-6F632CED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6447E-822F-4B3E-9E63-AD20DCD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7F2"/>
                </a:solidFill>
              </a:defRPr>
            </a:pPr>
            <a:r>
              <a:rPr sz="1275" b="1">
                <a:solidFill>
                  <a:srgbClr val="1877F2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6D634-EC38-4211-953A-248DE95A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57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Better news representation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474C4-1D91-4E6D-9357-834A67BD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76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Model relevance, novelty, surprise, timestamp, and multi-day carryover.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A60CC-3598-4352-9832-72B73214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B030B-5509-4A51-8EF7-7AEF51D0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7F2"/>
                </a:solidFill>
              </a:defRPr>
            </a:pPr>
            <a:r>
              <a:rPr sz="1275" b="1">
                <a:solidFill>
                  <a:srgbClr val="1877F2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3D83A-7BD6-4513-9D70-3A5B6EB8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86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Decision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EAD5F-6F29-4D5A-ACDB-F0EA2D31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Evaluate calibration, prediction intervals, turnover, and transaction costs.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F2595B-BAC4-441B-8852-1880C542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4A3DB9-8064-4EBB-81FE-0FF1687B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DA5AD3-533B-4C5B-A5F4-76C769EC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2AF0A-DBBC-47E9-A5F2-A97CC80D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627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D0D5DD"/>
                </a:solidFill>
              </a:defRPr>
            </a:pPr>
            <a:r>
              <a:rPr sz="1200" b="0">
                <a:solidFill>
                  <a:srgbClr val="D0D5DD"/>
                </a:solidFill>
              </a:rPr>
              <a:t>Camilo Chaves</a:t>
            </a:r>
          </a:p>
        </p:txBody>
      </p:sp>
    </p:spTree>
    <p:extLst>
      <p:ext uri="{BB962C8B-B14F-4D97-AF65-F5344CB8AC3E}">
        <p14:creationId xmlns:p14="http://schemas.microsoft.com/office/powerpoint/2010/main" val="18014046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D1457E-4AB8-494A-A52F-B96B6FDC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071ED-234E-4DD0-817C-1A5931C7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Limitations define the boundary of the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50093-090E-4791-AE62-08D914B8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0BB4F-F43C-4843-BFD1-54AE6AD5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77F2"/>
                </a:solidFill>
              </a:defRPr>
            </a:pPr>
            <a:r>
              <a:rPr sz="1125" b="1">
                <a:solidFill>
                  <a:srgbClr val="1877F2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8E186-F085-45D7-90F0-3D3AFB3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6287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241 sessions per ticker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0463A-68D9-49CE-860A-1CCE765B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9E1DA-A1AA-41F1-82C9-C790EF8C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77F2"/>
                </a:solidFill>
              </a:defRPr>
            </a:pPr>
            <a:r>
              <a:rPr sz="1125" b="1">
                <a:solidFill>
                  <a:srgbClr val="1877F2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B8F8C-8A0D-4CED-B4D5-81209FF6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287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Seven correlated technology stocks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2E87D-BDCA-4D00-98ED-2DF0DA5E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479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AAD8B-98D0-449D-8D44-F7D81D9B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66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77F2"/>
                </a:solidFill>
              </a:defRPr>
            </a:pPr>
            <a:r>
              <a:rPr sz="1125" b="1">
                <a:solidFill>
                  <a:srgbClr val="1877F2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4DF5F-DC9E-473C-B2DE-3F3ED754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6287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Undocumented news timestamp timezone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84F01-13FA-417D-89B3-749DE117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479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A6CA9-4A5B-4207-8FBF-67459F32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77F2"/>
                </a:solidFill>
              </a:defRPr>
            </a:pPr>
            <a:r>
              <a:rPr sz="1125" b="1">
                <a:solidFill>
                  <a:srgbClr val="1877F2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BA114-C376-4B2B-9932-F8DB4C22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Uneven provider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87D0A-8DF6-4BA5-B5ED-D0F5E652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44A36-9128-4910-AB44-55697DD1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77F2"/>
                </a:solidFill>
              </a:defRPr>
            </a:pPr>
            <a:r>
              <a:rPr sz="1125" b="1">
                <a:solidFill>
                  <a:srgbClr val="1877F2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B388E-5430-4746-A339-FE6D8248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Recurring and syndicated content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8F4F4-8021-4488-8105-4E05016E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338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DBC04-167A-4B96-9C4C-DC7D1F67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77F2"/>
                </a:solidFill>
              </a:defRPr>
            </a:pPr>
            <a:r>
              <a:rPr sz="1125" b="1">
                <a:solidFill>
                  <a:srgbClr val="1877F2"/>
                </a:solidFill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4B073-D36D-4D4B-9E08-D58F9B46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FinBERT not calibrated to these sources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AA2C0-6192-4608-8DC5-0D006E5F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338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C6724A-F3FE-41B9-90A5-5213ABD1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77F2"/>
                </a:solidFill>
              </a:defRPr>
            </a:pPr>
            <a:r>
              <a:rPr sz="1125" b="1">
                <a:solidFill>
                  <a:srgbClr val="1877F2"/>
                </a:solidFill>
              </a:rPr>
              <a:t>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AA461-F16C-4CC1-A1CA-1B299DAC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00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No VIX, rates, market or earnings calendar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C9C52F-589A-450E-8ADA-BC2F8C4C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50B920-44E2-4250-B00F-00F69244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386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77F2"/>
                </a:solidFill>
              </a:defRPr>
            </a:pPr>
            <a:r>
              <a:rPr sz="1125" b="1">
                <a:solidFill>
                  <a:srgbClr val="1877F2"/>
                </a:solidFill>
              </a:rPr>
              <a:t>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E28AD5-1F70-4A14-8F5A-3B04A60F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00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One final test regime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B6A5A-68CA-4213-97D5-ABFEABA8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9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08702B-88F6-40D7-BAFC-CC13F8BE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386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77F2"/>
                </a:solidFill>
              </a:defRPr>
            </a:pPr>
            <a:r>
              <a:rPr sz="1125" b="1">
                <a:solidFill>
                  <a:srgbClr val="1877F2"/>
                </a:solidFill>
              </a:rPr>
              <a:t>09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F241DA-151E-46CD-8924-887351CE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200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No transaction-cost backtest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60336E-F497-4E07-8122-6C9B9FE3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19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59E15A-266B-430D-8AE6-D116354D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9592069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7BC9B-1280-402C-9065-796BA37F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7F2"/>
                </a:solidFill>
              </a:defRPr>
            </a:pPr>
            <a:r>
              <a:rPr sz="1050" b="1">
                <a:solidFill>
                  <a:srgbClr val="1877F2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2AE1A-9C09-4519-A1D7-589519A5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Reproducibility: audit, modeling, and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578A9-031D-4003-848D-82C39173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20EFE-347F-4477-940E-28B3BAE4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01_data_quality_eda.ipynb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11A29-39BA-4082-A493-5DA4905B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383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Data validation · duplicates · EDA · saved figures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951D4-5EB4-44C6-908D-2CD4CDB7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9996A-1274-4F78-A0F1-723BDE2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02_modeling_validation.ipynb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A3707-ECD3-4638-B9C5-EE689D6B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Targets · features · FinBERT · models · temporal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70106-6DF0-44AC-AD09-6771020D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3016C-49CF-41F8-BC47-AE30DDF6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03_executive_report.ipynb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D5972-48E4-461E-A94B-A8281231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147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Saved-artifact synthesis · final recommendation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819B2-CCA2-48B3-845A-B3B5B4B9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C2F36-F748-45C0-8E37-411FA9B4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src/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3B458-731C-4A44-B8F9-5C568993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Reusable data, feature, modeling, and validation helpers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A2902-EE4D-4156-BCDA-DC4D845C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65062-3F2C-4009-9198-CCF19582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outputs/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17F48-8CC5-49E0-AF74-32357FC0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911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Figures, predictions, and model-comparison artifacts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7F8DB-252F-40AF-AFAC-820EEFBE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6D2AC-A6CA-46E0-8000-DCD5CBC3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482136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2026-08-19T20:53:17.3750000Z</dcterms:created>
  <dcterms:modified xsi:type="dcterms:W3CDTF">2026-08-19T20:53:17.3750000Z</dcterms:modified>
</coreProperties>
</file>